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embeddedFontLst>
    <p:embeddedFont>
      <p:font typeface="Bitter"/>
      <p:regular r:id="rId201314"/>
    </p:embeddedFont>
    <p:embeddedFont>
      <p:font typeface="Bitter Medium"/>
      <p:regular r:id="rId201315"/>
    </p:embeddedFont>
    <p:embeddedFont>
      <p:font typeface="Bitter Bold"/>
      <p:regular r:id="rId201316"/>
    </p:embeddedFont>
    <p:embeddedFont>
      <p:font typeface="Open Sans Bold"/>
      <p:regular r:id="rId201317"/>
    </p:embeddedFont>
    <p:embeddedFont>
      <p:font typeface="Open Sans"/>
      <p:regular r:id="rId201318"/>
    </p:embeddedFont>
    <p:embeddedFont>
      <p:font typeface="Open Sans Medium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3.png"/><Relationship Id="rId6" Type="http://schemas.openxmlformats.org/officeDocument/2006/relationships/image" Target="../media/image-9-4.svg"/><Relationship Id="rId7" Type="http://schemas.openxmlformats.org/officeDocument/2006/relationships/image" Target="../media/image-9-3.png"/><Relationship Id="rId8" Type="http://schemas.openxmlformats.org/officeDocument/2006/relationships/image" Target="../media/image-9-4.svg"/><Relationship Id="rId9" Type="http://schemas.openxmlformats.org/officeDocument/2006/relationships/image" Target="../media/image-9-1.png"/><Relationship Id="rId10" Type="http://schemas.openxmlformats.org/officeDocument/2006/relationships/image" Target="../media/image-9-2.svg"/><Relationship Id="rId11" Type="http://schemas.openxmlformats.org/officeDocument/2006/relationships/image" Target="../media/image-9-1.png"/><Relationship Id="rId12" Type="http://schemas.openxmlformats.org/officeDocument/2006/relationships/image" Target="../media/image-9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37370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8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QueleaGuard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92958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Building the intelligence foundation for adaptive Quelea crop protection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i="1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a family rice farm to an AI research and data-engineering journey.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4292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8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 watched my family's rice farm disappear.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800969"/>
            <a:ext cx="2188443" cy="113846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3127" y="1961778"/>
            <a:ext cx="17906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Kisumu, Kenya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33127" y="2324993"/>
            <a:ext cx="179062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Rice farming for approximately 16 years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081189"/>
            <a:ext cx="2188443" cy="135991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3127" y="3241997"/>
            <a:ext cx="179062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2024 — The Breaking Point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733127" y="3826669"/>
            <a:ext cx="179062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Five people guarding fields, 6 AM to 6 PM, every day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3035201" y="1800969"/>
            <a:ext cx="2188443" cy="1756618"/>
          </a:xfrm>
          <a:prstGeom prst="roundRect">
            <a:avLst>
              <a:gd name="adj" fmla="val 3390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3039963" y="1805732"/>
            <a:ext cx="2178918" cy="873547"/>
          </a:xfrm>
          <a:custGeom>
            <a:avLst/>
            <a:gdLst/>
            <a:ahLst/>
            <a:cxnLst/>
            <a:rect l="l" t="t" r="r" b="b"/>
            <a:pathLst>
              <a:path w="2178918" h="873547">
                <a:moveTo>
                  <a:pt x="49619" y="0"/>
                </a:moveTo>
                <a:lnTo>
                  <a:pt x="2129300" y="0"/>
                </a:lnTo>
                <a:arcTo hR="49619" wR="49619" stAng="16200000" swAng="5400000"/>
                <a:lnTo>
                  <a:pt x="2178918" y="873547"/>
                </a:lnTo>
                <a:lnTo>
                  <a:pt x="0" y="873547"/>
                </a:lnTo>
                <a:lnTo>
                  <a:pt x="0" y="49619"/>
                </a:lnTo>
                <a:arcTo hR="49619" wR="49619" stAng="10800000" swAng="5400000"/>
                <a:close/>
              </a:path>
            </a:pathLst>
          </a:custGeom>
          <a:solidFill>
            <a:srgbClr val="FCE2CF"/>
          </a:solidFill>
          <a:ln/>
        </p:spPr>
      </p:sp>
      <p:sp>
        <p:nvSpPr>
          <p:cNvPr id="12" name="Text 7"/>
          <p:cNvSpPr/>
          <p:nvPr/>
        </p:nvSpPr>
        <p:spPr>
          <a:xfrm>
            <a:off x="3181722" y="1947490"/>
            <a:ext cx="18954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Potential Harvest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3181722" y="2310705"/>
            <a:ext cx="18954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50+ bags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039963" y="2679278"/>
            <a:ext cx="2178918" cy="873547"/>
          </a:xfrm>
          <a:custGeom>
            <a:avLst/>
            <a:gdLst/>
            <a:ahLst/>
            <a:cxnLst/>
            <a:rect l="l" t="t" r="r" b="b"/>
            <a:pathLst>
              <a:path w="2178918" h="873547">
                <a:moveTo>
                  <a:pt x="0" y="0"/>
                </a:moveTo>
                <a:lnTo>
                  <a:pt x="2178918" y="0"/>
                </a:lnTo>
                <a:lnTo>
                  <a:pt x="2178918" y="823928"/>
                </a:lnTo>
                <a:arcTo hR="49619" wR="49619" stAng="0" swAng="5400000"/>
                <a:lnTo>
                  <a:pt x="49619" y="873547"/>
                </a:lnTo>
                <a:arcTo hR="49619" wR="49619" stAng="5400000" swAng="5400000"/>
                <a:lnTo>
                  <a:pt x="0" y="0"/>
                </a:lnTo>
                <a:close/>
              </a:path>
            </a:pathLst>
          </a:custGeom>
          <a:solidFill>
            <a:srgbClr val="FCE2CF"/>
          </a:solidFill>
          <a:ln/>
        </p:spPr>
      </p:sp>
      <p:sp>
        <p:nvSpPr>
          <p:cNvPr id="15" name="Shape 10"/>
          <p:cNvSpPr/>
          <p:nvPr/>
        </p:nvSpPr>
        <p:spPr>
          <a:xfrm>
            <a:off x="3039963" y="2679278"/>
            <a:ext cx="2178918" cy="19050"/>
          </a:xfrm>
          <a:prstGeom prst="roundRect">
            <a:avLst>
              <a:gd name="adj" fmla="val 50000"/>
            </a:avLst>
          </a:prstGeom>
          <a:solidFill>
            <a:srgbClr val="E2C8B5"/>
          </a:solidFill>
          <a:ln/>
        </p:spPr>
      </p:sp>
      <p:sp>
        <p:nvSpPr>
          <p:cNvPr id="16" name="Text 11"/>
          <p:cNvSpPr/>
          <p:nvPr/>
        </p:nvSpPr>
        <p:spPr>
          <a:xfrm>
            <a:off x="3181722" y="2821037"/>
            <a:ext cx="18954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Actual Harvest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3181722" y="3184252"/>
            <a:ext cx="18954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 bags — premature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035201" y="3717057"/>
            <a:ext cx="21884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My family eventually stopped farming rice.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32458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8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 farmer cannot fight a persistent bird threat with five people.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901949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7658" y="1901949"/>
            <a:ext cx="34557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Continuous Monitoring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27658" y="2208461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Large field areas demand coverage no human team can sustain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901949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92092" y="1901949"/>
            <a:ext cx="34557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Unsustainable Labour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192092" y="2208461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deterrence is intensive, costly, and ultimately ineffective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945606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7658" y="2945606"/>
            <a:ext cx="34557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Slow Reaction Time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27658" y="3252118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Flock movement outpaces any human response capability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2945606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92092" y="2945606"/>
            <a:ext cx="34557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Limited Intelligence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192092" y="3252118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actionable information about bird behaviour or movement patterns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708720" y="4024685"/>
            <a:ext cx="83963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i="1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can we continuously detect, understand and respond to Quelea activity at a scale humans cannot?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96119" y="3865215"/>
            <a:ext cx="19050" cy="545753"/>
          </a:xfrm>
          <a:prstGeom prst="roundRect">
            <a:avLst>
              <a:gd name="adj" fmla="val 50000"/>
            </a:avLst>
          </a:prstGeom>
          <a:solidFill>
            <a:srgbClr val="D2600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59222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8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My first answer was </a:t>
            </a:r>
            <a:pPr algn="l" indent="0" marL="0">
              <a:lnSpc>
                <a:spcPct val="104000"/>
              </a:lnSpc>
              <a:buNone/>
            </a:pPr>
            <a:r>
              <a:rPr lang="en-US" sz="2750" spc="-84" kern="0" dirty="0">
                <a:solidFill>
                  <a:srgbClr val="D2600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Agri-Shield</a:t>
            </a:r>
            <a:pPr algn="l" indent="0" marL="0">
              <a:lnSpc>
                <a:spcPct val="104000"/>
              </a:lnSpc>
              <a:buNone/>
            </a:pPr>
            <a:r>
              <a:rPr lang="en-US" sz="2750" spc="-8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.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657796"/>
            <a:ext cx="1169491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D2600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174" y="1700287"/>
            <a:ext cx="145658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spc="-22" kern="0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LONG-TERM VISION</a:t>
            </a:r>
            <a:endParaRPr lang="en-US" sz="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2032620"/>
            <a:ext cx="708794" cy="8505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46671" y="2174379"/>
            <a:ext cx="38722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DETECT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346671" y="2480890"/>
            <a:ext cx="38722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watchtowers + IoT field units + environmental sensors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883173"/>
            <a:ext cx="708794" cy="8505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46671" y="3024932"/>
            <a:ext cx="38722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RESPOND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346671" y="3331443"/>
            <a:ext cx="38722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Drones + automated deterrence + central intelligence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3733726"/>
            <a:ext cx="708794" cy="85055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46671" y="3875484"/>
            <a:ext cx="38722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LEARN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1346671" y="4181996"/>
            <a:ext cx="38722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Machine learning feeds back into detection and response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0542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spc="-72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But I was trying to build the top of the system first.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211" y="1079748"/>
            <a:ext cx="4716438" cy="352157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92713" y="1065981"/>
            <a:ext cx="886644" cy="345356"/>
          </a:xfrm>
          <a:prstGeom prst="roundRect">
            <a:avLst>
              <a:gd name="adj" fmla="val 14816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50347" y="1131615"/>
            <a:ext cx="171301" cy="2140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spc="-36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992713" y="1441772"/>
            <a:ext cx="1773287" cy="345356"/>
          </a:xfrm>
          <a:prstGeom prst="roundRect">
            <a:avLst>
              <a:gd name="adj" fmla="val 14816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93706" y="1507406"/>
            <a:ext cx="171301" cy="2140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spc="-36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92713" y="1817563"/>
            <a:ext cx="2659931" cy="345356"/>
          </a:xfrm>
          <a:prstGeom prst="roundRect">
            <a:avLst>
              <a:gd name="adj" fmla="val 14816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36991" y="1883197"/>
            <a:ext cx="171301" cy="2140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spc="-36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92713" y="2284735"/>
            <a:ext cx="243632" cy="243632"/>
          </a:xfrm>
          <a:prstGeom prst="roundRect">
            <a:avLst>
              <a:gd name="adj" fmla="val 21003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8404" y="2311375"/>
            <a:ext cx="15225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spc="-36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340971" y="2311375"/>
            <a:ext cx="231167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36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340971" y="2606353"/>
            <a:ext cx="231167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spc="-19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irreducible foundation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92713" y="2970237"/>
            <a:ext cx="243632" cy="243632"/>
          </a:xfrm>
          <a:prstGeom prst="roundRect">
            <a:avLst>
              <a:gd name="adj" fmla="val 21003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8404" y="2996878"/>
            <a:ext cx="15225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spc="-36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340971" y="2996878"/>
            <a:ext cx="231167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36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Models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340971" y="3291855"/>
            <a:ext cx="231167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spc="-19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Models require data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92713" y="3655740"/>
            <a:ext cx="243632" cy="243632"/>
          </a:xfrm>
          <a:prstGeom prst="roundRect">
            <a:avLst>
              <a:gd name="adj" fmla="val 21003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8404" y="3682380"/>
            <a:ext cx="15225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spc="-36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340971" y="3682380"/>
            <a:ext cx="231167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36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Intelligence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340971" y="3977357"/>
            <a:ext cx="231167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spc="-19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Intelligence requires models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992713" y="4276279"/>
            <a:ext cx="2659931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spc="-19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intelligent system needs intelligence. So I went back to the beginning.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1029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8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QueleaGuard became the foundation.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2065883"/>
            <a:ext cx="4107135" cy="1667321"/>
          </a:xfrm>
          <a:prstGeom prst="roundRect">
            <a:avLst>
              <a:gd name="adj" fmla="val 6122"/>
            </a:avLst>
          </a:prstGeom>
          <a:solidFill>
            <a:srgbClr val="D2600F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2207642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QueleaGuard — Now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570857"/>
            <a:ext cx="3823618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spc="-22" kern="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+ research + intelligence foundation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Understanding Quelea occurrence, spatial context, environmental patterns, and data quality.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2207642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Agri-Shield — Long-Term Vision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570857"/>
            <a:ext cx="3902943" cy="103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autonomous crop-protection system that QueleaGuard makes possible.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model, every sensor, every intervention — built on the foundation we are engineering today.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The first problem wasn't machine learning. It was </a:t>
            </a:r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D2600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</a:t>
            </a:r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.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757" y="682154"/>
            <a:ext cx="7272486" cy="39740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94731" y="2544213"/>
            <a:ext cx="168510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spc="-43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Raw Records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149912" y="2518357"/>
            <a:ext cx="168510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spc="-43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Engineering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71232" y="2526636"/>
            <a:ext cx="168510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spc="-43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Modeling Set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96119" y="469597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spc="-1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Quelea occurrence records, rainfall, vegetation, temperature, terrain, hydrology, spatial boundaries, and temporal information — all fragmented, all requiring careful engineering before a single model could be trained.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3580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8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Five weeks of turning fragmented information into a research dataset.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5307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-33" kern="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174974"/>
            <a:ext cx="2622724" cy="1905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2283916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Occurrence Data → Spatial Framework → Grid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260601" y="195307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-33" kern="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0601" y="2174974"/>
            <a:ext cx="2622724" cy="1905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8" name="Text 6"/>
          <p:cNvSpPr/>
          <p:nvPr/>
        </p:nvSpPr>
        <p:spPr>
          <a:xfrm>
            <a:off x="3260601" y="2283916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Presence / Pseudo-absence Extraction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25083" y="195307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-33" kern="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25083" y="2174974"/>
            <a:ext cx="2622724" cy="1905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1" name="Text 9"/>
          <p:cNvSpPr/>
          <p:nvPr/>
        </p:nvSpPr>
        <p:spPr>
          <a:xfrm>
            <a:off x="6025083" y="2283916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Environmental Data Alignment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6119" y="297485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-33" kern="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119" y="3196754"/>
            <a:ext cx="4004965" cy="1905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3305696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Temporal Synchronization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42842" y="297485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-33" kern="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42842" y="3196754"/>
            <a:ext cx="4004965" cy="1905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7" name="Text 15"/>
          <p:cNvSpPr/>
          <p:nvPr/>
        </p:nvSpPr>
        <p:spPr>
          <a:xfrm>
            <a:off x="4642842" y="3305696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Quality Control → Modelling Dataset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96119" y="3792885"/>
            <a:ext cx="8151763" cy="566961"/>
          </a:xfrm>
          <a:prstGeom prst="roundRect">
            <a:avLst>
              <a:gd name="adj" fmla="val 10502"/>
            </a:avLst>
          </a:prstGeom>
          <a:solidFill>
            <a:srgbClr val="FCE2CF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993654"/>
            <a:ext cx="177180" cy="14175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956816" y="3970065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Now I'm going to show you exactly how we built this — live, in the repository and notebook.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7322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spc="-77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Building the dataset was harder than building the model.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321891"/>
            <a:ext cx="3916487" cy="8153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227" y="1466850"/>
            <a:ext cx="356941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-3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Scarcity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98227" y="1791444"/>
            <a:ext cx="35694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Limited direct Quelea observations available for Kenya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257723"/>
            <a:ext cx="3916487" cy="10161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8227" y="2402681"/>
            <a:ext cx="356941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-3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Spatial Scale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98227" y="2727275"/>
            <a:ext cx="356941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Choosing an analytical framework that reflects ecological reality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394397"/>
            <a:ext cx="3916487" cy="10161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8227" y="3539356"/>
            <a:ext cx="356941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-3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Temporal Alignment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698227" y="3863950"/>
            <a:ext cx="356941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Matching observations precisely with environmental conditions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36157" y="1321891"/>
            <a:ext cx="3916487" cy="101619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38266" y="1466850"/>
            <a:ext cx="356941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-3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Pseudo-absences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938266" y="1791444"/>
            <a:ext cx="356941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conventional absence data — methodology required careful justification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36157" y="2458566"/>
            <a:ext cx="3916487" cy="81535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38266" y="2603525"/>
            <a:ext cx="356941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-3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Remote Sensing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4938266" y="2928119"/>
            <a:ext cx="35694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Quality and coverage issues across environmental datasets</a:t>
            </a:r>
            <a:endParaRPr lang="en-US" sz="10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36157" y="3394397"/>
            <a:ext cx="3916487" cy="81535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938266" y="3539356"/>
            <a:ext cx="356941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-39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Quality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4938266" y="3863950"/>
            <a:ext cx="35694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Invalid values detected, investigated, and corrected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2254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84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The dataset became a research problem of its own.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956816" y="1997720"/>
            <a:ext cx="35265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availability determines what can responsibly be modelled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121250" y="1997720"/>
            <a:ext cx="352663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Spatial and temporal alignment matter as much as model selection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6816" y="2772817"/>
            <a:ext cx="35265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Presence-only observations require careful methodology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121250" y="2772817"/>
            <a:ext cx="352663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42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Environmental datasets are not automatically trustworthy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08720" y="3534668"/>
            <a:ext cx="83963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We chose research integrity over demo theatre.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6119" y="3375199"/>
            <a:ext cx="19050" cy="545753"/>
          </a:xfrm>
          <a:prstGeom prst="roundRect">
            <a:avLst>
              <a:gd name="adj" fmla="val 50000"/>
            </a:avLst>
          </a:prstGeom>
          <a:solidFill>
            <a:srgbClr val="D2600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1567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spc="-60" kern="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What comes next?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64856" y="856357"/>
            <a:ext cx="14288" cy="3895502"/>
          </a:xfrm>
          <a:prstGeom prst="roundRect">
            <a:avLst>
              <a:gd name="adj" fmla="val 49998"/>
            </a:avLst>
          </a:prstGeom>
          <a:solidFill>
            <a:srgbClr val="E2C8B5"/>
          </a:solidFill>
          <a:ln/>
        </p:spPr>
      </p:sp>
      <p:sp>
        <p:nvSpPr>
          <p:cNvPr id="4" name="Shape 2"/>
          <p:cNvSpPr/>
          <p:nvPr/>
        </p:nvSpPr>
        <p:spPr>
          <a:xfrm>
            <a:off x="4166071" y="963811"/>
            <a:ext cx="305619" cy="14288"/>
          </a:xfrm>
          <a:prstGeom prst="roundRect">
            <a:avLst>
              <a:gd name="adj" fmla="val 49998"/>
            </a:avLst>
          </a:prstGeom>
          <a:solidFill>
            <a:srgbClr val="E2C8B5"/>
          </a:solidFill>
          <a:ln/>
        </p:spPr>
      </p:sp>
      <p:sp>
        <p:nvSpPr>
          <p:cNvPr id="5" name="Shape 3"/>
          <p:cNvSpPr/>
          <p:nvPr/>
        </p:nvSpPr>
        <p:spPr>
          <a:xfrm>
            <a:off x="4457402" y="856357"/>
            <a:ext cx="229195" cy="229195"/>
          </a:xfrm>
          <a:prstGeom prst="roundRect">
            <a:avLst>
              <a:gd name="adj" fmla="val 18672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95614" y="875444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spc="-36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119" y="891332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spc="-30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1. Data Foundation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6119" y="1094482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b="1" spc="-16" kern="0" dirty="0">
                <a:solidFill>
                  <a:srgbClr val="FFFFFF"/>
                </a:solidFill>
                <a:highlight>
                  <a:srgbClr val="D2600F"/>
                </a:highlight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Current phase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72310" y="1517824"/>
            <a:ext cx="305619" cy="14288"/>
          </a:xfrm>
          <a:prstGeom prst="roundRect">
            <a:avLst>
              <a:gd name="adj" fmla="val 49998"/>
            </a:avLst>
          </a:prstGeom>
          <a:solidFill>
            <a:srgbClr val="E2C8B5"/>
          </a:solidFill>
          <a:ln/>
        </p:spPr>
      </p:sp>
      <p:sp>
        <p:nvSpPr>
          <p:cNvPr id="10" name="Shape 8"/>
          <p:cNvSpPr/>
          <p:nvPr/>
        </p:nvSpPr>
        <p:spPr>
          <a:xfrm>
            <a:off x="4457402" y="1410370"/>
            <a:ext cx="229195" cy="229195"/>
          </a:xfrm>
          <a:prstGeom prst="roundRect">
            <a:avLst>
              <a:gd name="adj" fmla="val 18672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5614" y="1429457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spc="-36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81439" y="1445344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spc="-30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2. Exploration &amp; Modelling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81439" y="1648495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spc="-1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Ecological relationships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66071" y="2016100"/>
            <a:ext cx="305619" cy="14288"/>
          </a:xfrm>
          <a:prstGeom prst="roundRect">
            <a:avLst>
              <a:gd name="adj" fmla="val 49998"/>
            </a:avLst>
          </a:prstGeom>
          <a:solidFill>
            <a:srgbClr val="E2C8B5"/>
          </a:solidFill>
          <a:ln/>
        </p:spPr>
      </p:sp>
      <p:sp>
        <p:nvSpPr>
          <p:cNvPr id="15" name="Shape 13"/>
          <p:cNvSpPr/>
          <p:nvPr/>
        </p:nvSpPr>
        <p:spPr>
          <a:xfrm>
            <a:off x="4457402" y="1908646"/>
            <a:ext cx="229195" cy="229195"/>
          </a:xfrm>
          <a:prstGeom prst="roundRect">
            <a:avLst>
              <a:gd name="adj" fmla="val 18672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5614" y="1927733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spc="-36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6119" y="1943621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spc="-30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3. Field Observation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6119" y="2146771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-1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Camera, acoustic, environmental data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72310" y="2514377"/>
            <a:ext cx="305619" cy="14288"/>
          </a:xfrm>
          <a:prstGeom prst="roundRect">
            <a:avLst>
              <a:gd name="adj" fmla="val 49998"/>
            </a:avLst>
          </a:prstGeom>
          <a:solidFill>
            <a:srgbClr val="E2C8B5"/>
          </a:solidFill>
          <a:ln/>
        </p:spPr>
      </p:sp>
      <p:sp>
        <p:nvSpPr>
          <p:cNvPr id="20" name="Shape 18"/>
          <p:cNvSpPr/>
          <p:nvPr/>
        </p:nvSpPr>
        <p:spPr>
          <a:xfrm>
            <a:off x="4457402" y="2406923"/>
            <a:ext cx="229195" cy="229195"/>
          </a:xfrm>
          <a:prstGeom prst="roundRect">
            <a:avLst>
              <a:gd name="adj" fmla="val 18672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95614" y="2426010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spc="-36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81439" y="2441897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spc="-30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4. Behavioural Intelligence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81439" y="2645048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spc="-1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Movement and flock patterns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166071" y="3012653"/>
            <a:ext cx="305619" cy="14288"/>
          </a:xfrm>
          <a:prstGeom prst="roundRect">
            <a:avLst>
              <a:gd name="adj" fmla="val 49998"/>
            </a:avLst>
          </a:prstGeom>
          <a:solidFill>
            <a:srgbClr val="E2C8B5"/>
          </a:solidFill>
          <a:ln/>
        </p:spPr>
      </p:sp>
      <p:sp>
        <p:nvSpPr>
          <p:cNvPr id="25" name="Shape 23"/>
          <p:cNvSpPr/>
          <p:nvPr/>
        </p:nvSpPr>
        <p:spPr>
          <a:xfrm>
            <a:off x="4457402" y="2905199"/>
            <a:ext cx="229195" cy="229195"/>
          </a:xfrm>
          <a:prstGeom prst="roundRect">
            <a:avLst>
              <a:gd name="adj" fmla="val 18672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5614" y="2924287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spc="-36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6119" y="2940174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spc="-30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5. Intervention Data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6119" y="3143324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-1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Record deterrence outcomes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72310" y="3510930"/>
            <a:ext cx="305619" cy="14288"/>
          </a:xfrm>
          <a:prstGeom prst="roundRect">
            <a:avLst>
              <a:gd name="adj" fmla="val 49998"/>
            </a:avLst>
          </a:prstGeom>
          <a:solidFill>
            <a:srgbClr val="E2C8B5"/>
          </a:solidFill>
          <a:ln/>
        </p:spPr>
      </p:sp>
      <p:sp>
        <p:nvSpPr>
          <p:cNvPr id="30" name="Shape 28"/>
          <p:cNvSpPr/>
          <p:nvPr/>
        </p:nvSpPr>
        <p:spPr>
          <a:xfrm>
            <a:off x="4457402" y="3403476"/>
            <a:ext cx="229195" cy="229195"/>
          </a:xfrm>
          <a:prstGeom prst="roundRect">
            <a:avLst>
              <a:gd name="adj" fmla="val 18672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95614" y="3422563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spc="-36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1439" y="3438451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spc="-30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6. Adaptive Intelligence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81439" y="3641601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spc="-1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 what works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166071" y="4009206"/>
            <a:ext cx="305619" cy="14288"/>
          </a:xfrm>
          <a:prstGeom prst="roundRect">
            <a:avLst>
              <a:gd name="adj" fmla="val 49998"/>
            </a:avLst>
          </a:prstGeom>
          <a:solidFill>
            <a:srgbClr val="E2C8B5"/>
          </a:solidFill>
          <a:ln/>
        </p:spPr>
      </p:sp>
      <p:sp>
        <p:nvSpPr>
          <p:cNvPr id="35" name="Shape 33"/>
          <p:cNvSpPr/>
          <p:nvPr/>
        </p:nvSpPr>
        <p:spPr>
          <a:xfrm>
            <a:off x="4457402" y="3901753"/>
            <a:ext cx="229195" cy="229195"/>
          </a:xfrm>
          <a:prstGeom prst="roundRect">
            <a:avLst>
              <a:gd name="adj" fmla="val 18672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95614" y="3920840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spc="-36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6119" y="3936727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spc="-30" kern="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7. IoT + Autonomous Systems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6119" y="4139878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spc="-16" kern="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Physical response — Agri-Shield realized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2026-08-14T12:34:42Z</dcterms:created>
  <dcterms:modified xsi:type="dcterms:W3CDTF">2026-08-14T12:34:42Z</dcterms:modified>
</cp:coreProperties>
</file>